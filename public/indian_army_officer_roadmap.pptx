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5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550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COMMISSION PLANNING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Army Officer Roadmap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 •  TES  •  CDS (IMA)  •  TGC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19050">
            <a:solidFill>
              <a:srgbClr val="B892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605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 20 September 2011  •  Currently Class 10 (2026–27)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17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decade-long, four-entry plan for Permanent Commission — with age windows calculated exactly against each exam's real cut-off mechanics.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a family planning guide  •  Confirm exact cut-off dates each cycle on joinindianarmy.nic.in and upsc.gov.in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Plan Covers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EEF1E9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636776"/>
            <a:ext cx="457200" cy="457200"/>
          </a:xfrm>
          <a:prstGeom prst="ellipse">
            <a:avLst/>
          </a:prstGeom>
          <a:solidFill>
            <a:srgbClr val="4C6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453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PC Entries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NDA, TES, CDS (IMA) and TGC — how each one works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EEF1E9"/>
          </a:solidFill>
          <a:ln/>
        </p:spPr>
      </p:sp>
      <p:sp>
        <p:nvSpPr>
          <p:cNvPr id="10" name="Shape 8"/>
          <p:cNvSpPr/>
          <p:nvPr/>
        </p:nvSpPr>
        <p:spPr>
          <a:xfrm>
            <a:off x="6254496" y="1636776"/>
            <a:ext cx="457200" cy="457200"/>
          </a:xfrm>
          <a:prstGeom prst="ellipse">
            <a:avLst/>
          </a:prstGeom>
          <a:solidFill>
            <a:srgbClr val="4C6A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54496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5453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September Matters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18745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real age cut-off mechanics shift his exact attempts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24328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EEF1E9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" y="2843784"/>
            <a:ext cx="457200" cy="457200"/>
          </a:xfrm>
          <a:prstGeom prst="ellipse">
            <a:avLst/>
          </a:prstGeom>
          <a:solidFill>
            <a:srgbClr val="4C6A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275234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&amp; Attempt Calculator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08152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eligibility windows, recalculated precisely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624328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EEF1E9"/>
          </a:solidFill>
          <a:ln/>
        </p:spPr>
      </p:sp>
      <p:sp>
        <p:nvSpPr>
          <p:cNvPr id="20" name="Shape 18"/>
          <p:cNvSpPr/>
          <p:nvPr/>
        </p:nvSpPr>
        <p:spPr>
          <a:xfrm>
            <a:off x="6254496" y="2843784"/>
            <a:ext cx="457200" cy="457200"/>
          </a:xfrm>
          <a:prstGeom prst="ellipse">
            <a:avLst/>
          </a:prstGeom>
          <a:solidFill>
            <a:srgbClr val="4C6A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54496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75234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Year-by-Year Timeline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08152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from Class 10 (now) to age 27 (2038)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31336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EEF1E9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" y="4050792"/>
            <a:ext cx="457200" cy="457200"/>
          </a:xfrm>
          <a:prstGeom prst="ellipse">
            <a:avLst/>
          </a:prstGeom>
          <a:solidFill>
            <a:srgbClr val="4C6A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8096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395935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Preparation Roadmap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28853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focus on, stage by stage, starting now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831336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EEF1E9"/>
          </a:solidFill>
          <a:ln/>
        </p:spPr>
      </p:sp>
      <p:sp>
        <p:nvSpPr>
          <p:cNvPr id="30" name="Shape 28"/>
          <p:cNvSpPr/>
          <p:nvPr/>
        </p:nvSpPr>
        <p:spPr>
          <a:xfrm>
            <a:off x="6254496" y="4050792"/>
            <a:ext cx="457200" cy="457200"/>
          </a:xfrm>
          <a:prstGeom prst="ellipse">
            <a:avLst/>
          </a:prstGeom>
          <a:solidFill>
            <a:srgbClr val="4C6A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54496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395935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by Phase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428853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prioritise, and when, across three phases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038344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EEF1E9"/>
          </a:solidFill>
          <a:ln/>
        </p:spPr>
      </p:sp>
      <p:sp>
        <p:nvSpPr>
          <p:cNvPr id="35" name="Shape 33"/>
          <p:cNvSpPr/>
          <p:nvPr/>
        </p:nvSpPr>
        <p:spPr>
          <a:xfrm>
            <a:off x="768096" y="5257800"/>
            <a:ext cx="457200" cy="457200"/>
          </a:xfrm>
          <a:prstGeom prst="ellipse">
            <a:avLst/>
          </a:prstGeom>
          <a:solidFill>
            <a:srgbClr val="4C6A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68096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417320" y="51663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Complete Journey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1417320" y="549554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walk-through from school to commissioning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35040" y="5038344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EEF1E9"/>
          </a:solidFill>
          <a:ln/>
        </p:spPr>
      </p:sp>
      <p:sp>
        <p:nvSpPr>
          <p:cNvPr id="40" name="Shape 38"/>
          <p:cNvSpPr/>
          <p:nvPr/>
        </p:nvSpPr>
        <p:spPr>
          <a:xfrm>
            <a:off x="6254496" y="5257800"/>
            <a:ext cx="457200" cy="457200"/>
          </a:xfrm>
          <a:prstGeom prst="ellipse">
            <a:avLst/>
          </a:prstGeom>
          <a:solidFill>
            <a:srgbClr val="4C6A3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54496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51663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Takeaways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6903720" y="549554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best path for maximum PC chances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3550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4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984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0233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NDA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412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Defence Academy — the earliest, broadest door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492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0136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57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12 pass or appearing (any stream, for Army wing)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9689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WINDOW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5292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16½ – 19½ years — checked on the course's start date (1 Jan or 1 Jul), not the exam date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57530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3133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 written exam (Maths + General Ability) → SSB Interview → Medical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370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62686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 at NDA, Khadakwasla → 1 year at IMA Dehradun (4 years total)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1663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4223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Commission, confirmed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69480" y="1508760"/>
            <a:ext cx="4370832" cy="4709160"/>
          </a:xfrm>
          <a:prstGeom prst="roundRect">
            <a:avLst>
              <a:gd name="adj" fmla="val 1674"/>
            </a:avLst>
          </a:prstGeom>
          <a:solidFill>
            <a:srgbClr val="F4EF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89520" y="180136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5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It's the Best Entry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2377440"/>
            <a:ext cx="373075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grooming time of any route, and the widest choice of Arms &amp; Services — including the Corps of Signals — decided at the end by merit and preference. He isn't locked into a technical stream early.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A — NDA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4C6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4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984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0233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412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10+2 Technical Entry Scheme — direct to engineering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492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0136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57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12 with PCM, minimum 60% aggregate, plus a valid JEE (Mains) score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9689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WINDOW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529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16½ – 19½ year band as NDA, on the same course-start reference dates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3924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6484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on 12th PCM% + JEE Mains rank → SSB Interview → Medical (no written exam)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1879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443984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 B.Tech at CME Pune / MCEME Secunderabad / MCTE Mhow → 1 year IMA (4 years total)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1663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4223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Commission, rank of Lieutenant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69480" y="1508760"/>
            <a:ext cx="4370832" cy="4709160"/>
          </a:xfrm>
          <a:prstGeom prst="roundRect">
            <a:avLst>
              <a:gd name="adj" fmla="val 1674"/>
            </a:avLst>
          </a:prstGeom>
          <a:solidFill>
            <a:srgbClr val="F4EF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89520" y="180136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5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Signals Advantage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2377440"/>
            <a:ext cx="373075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 is one of the direct feeder entries into the Corps of Signals, Corps of Engineers and EME. Strong PCM / JEE performance genuinely improves his shot at a technical Arm, if that's where his interest lies.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B — TES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3550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4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984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0233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CDS (IMA)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412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Defence Services — the graduate-entry route into IMA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492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0136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57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in any discipline from a recognised university; final-year students may also apply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9689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WINDOW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529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– 24 years, checked on course commencement — treat the calendar window as approximate within ±6 months at each edge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3924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6484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 written exam → SSB Interview → Medical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1879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4439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years at IMA, Dehradun — same academy and same PC status as NDA cadets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83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23951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Commission (IMA is PC-only; OTA under CDS is SSC and is excluded here)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69480" y="1508760"/>
            <a:ext cx="4370832" cy="4709160"/>
          </a:xfrm>
          <a:prstGeom prst="roundRect">
            <a:avLst>
              <a:gd name="adj" fmla="val 1674"/>
            </a:avLst>
          </a:prstGeom>
          <a:solidFill>
            <a:srgbClr val="F4EF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89520" y="180136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5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2377440"/>
            <a:ext cx="373075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backup / second chance if NDA or TES don't work out. It's a twice-a-year exam with a wide, multi-year eligibility window — a generous safety net running well into his twenties.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C — CDS (IMA)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4C6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4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984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0233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TGC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412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Graduate Course — direct entry for engineers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492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0136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57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/ B.Tech (or final year) in a notified engineering discipline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9689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WINDOW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529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– 27 years, checked on course commencement — also treat as approximate within ±6 months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3924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6484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on engineering marks → SSB Interview → Medical (no written exam)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1879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443984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 at IMA, Dehradun — shorter than CDS, plus 1 year ante-date seniority as a reward for his engineering degree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1663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4223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Commission, rank of Lieutenant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69480" y="1508760"/>
            <a:ext cx="4370832" cy="4709160"/>
          </a:xfrm>
          <a:prstGeom prst="roundRect">
            <a:avLst>
              <a:gd name="adj" fmla="val 1674"/>
            </a:avLst>
          </a:prstGeom>
          <a:solidFill>
            <a:srgbClr val="F4EF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89520" y="180136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5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Signals Advantage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2377440"/>
            <a:ext cx="373075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TES, TGC is a preferred feeder for Signals, EME and Engineers. An Electronics / Comm / CS / IT engineering degree is a genuine edge here — and this window stays open the longest of all four entries.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D — TGC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September Matters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 doesn't check age on the exam date — it checks age on the day the course actually starts (1 Jan or 1 Jul for NDA). That fixed reference point, not his birthday's position in the calendar, decides exactly which sittings count.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10332720" cy="0"/>
          </a:xfrm>
          <a:prstGeom prst="line">
            <a:avLst/>
          </a:prstGeom>
          <a:noFill/>
          <a:ln w="25400">
            <a:solidFill>
              <a:srgbClr val="9AA7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8703" y="3163824"/>
            <a:ext cx="164592" cy="164592"/>
          </a:xfrm>
          <a:prstGeom prst="ellipse">
            <a:avLst/>
          </a:prstGeom>
          <a:solidFill>
            <a:srgbClr val="9AA7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73759" y="34472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II 2027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— Sept 2027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25266" y="3163824"/>
            <a:ext cx="164592" cy="164592"/>
          </a:xfrm>
          <a:prstGeom prst="ellipse">
            <a:avLst/>
          </a:prstGeom>
          <a:solidFill>
            <a:srgbClr val="9AA7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30322" y="2468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I 2028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— Apr 2028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78501" y="3163824"/>
            <a:ext cx="164592" cy="164592"/>
          </a:xfrm>
          <a:prstGeom prst="ellipse">
            <a:avLst/>
          </a:prstGeom>
          <a:solidFill>
            <a:srgbClr val="3550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83557" y="34472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II 2028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5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— Sept 2028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35063" y="3163824"/>
            <a:ext cx="164592" cy="164592"/>
          </a:xfrm>
          <a:prstGeom prst="ellipse">
            <a:avLst/>
          </a:prstGeom>
          <a:solidFill>
            <a:srgbClr val="3550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0119" y="2468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I 2029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5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— Apr 2029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891626" y="3163824"/>
            <a:ext cx="164592" cy="164592"/>
          </a:xfrm>
          <a:prstGeom prst="ellipse">
            <a:avLst/>
          </a:prstGeom>
          <a:solidFill>
            <a:srgbClr val="3550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96682" y="34472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II 2029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5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— Sept 2029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544861" y="3163824"/>
            <a:ext cx="164592" cy="164592"/>
          </a:xfrm>
          <a:prstGeom prst="ellipse">
            <a:avLst/>
          </a:prstGeom>
          <a:solidFill>
            <a:srgbClr val="3550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49917" y="2468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I 2030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5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— Apr 2030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74320" y="35021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16½ yrs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Mar 2028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424160" y="35021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19½ yrs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Mar 2031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28016" cy="128016"/>
          </a:xfrm>
          <a:prstGeom prst="ellipse">
            <a:avLst/>
          </a:prstGeom>
          <a:solidFill>
            <a:srgbClr val="3550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8188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Age-eligible AND he's 12th-appearing/passed — a real, usable attempt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4892040"/>
            <a:ext cx="128016" cy="128016"/>
          </a:xfrm>
          <a:prstGeom prst="ellipse">
            <a:avLst/>
          </a:prstGeom>
          <a:solidFill>
            <a:srgbClr val="9AA7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48188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Age-eligible, but he's still in Class 11 — doesn't qualify academically yet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4EFE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3492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5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result: 4 real attempts, not 3 or 6 — NDA II 2028, NDA I 2029, NDA II 2029, NDA I 2030. TES follows the same twice-yearly rhythm alongside these.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re-confirm exact cut-off dates against that cycle's official UPSC notification.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&amp; Attempt Calculator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DOB 20 September 2011, currently Class 10 (2026–27)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278892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2606040"/>
                <a:gridCol w="2423160"/>
                <a:gridCol w="29535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 (age)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Age 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 Attempts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Sittings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16½–19½ yrs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Mar 2028 – 20 Mar 2031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solid attempts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 II'28, NDA I'29, NDA II'29, NDA I'30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16½–19½ yrs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Mar 2028 – 20 Mar 2031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attempts, parallel to 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cycles, from Class 12 (2028–29) onward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CDS (IMA)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19–24 yrs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Sep 2030 – 20 Sep 2035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 attempts (twice/yr)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final year of degree (~2032) through 2035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20–27 yrs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Sep 2031 – 20 Sep 2038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cycles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final year of degree (~2032) through 2038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1772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F4EF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48188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5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13892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he's already in Class 10, his first real NDA/TES shot lands in September 2028 — not 2029. CDS and TGC windows are pure age arithmetic from his birthday, but their exact calendar edges can shift by up to 6 months depending on the notification, so treat those two as directional and reconfirm closer to the date.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Attempt Calculator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Year-by-Year Timeline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 — 2026–2032 (currently Class 10)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4480560"/>
        </p:xfrm>
        <a:graphic>
          <a:graphicData uri="http://schemas.openxmlformats.org/drawingml/2006/table">
            <a:tbl>
              <a:tblPr/>
              <a:tblGrid>
                <a:gridCol w="914400"/>
                <a:gridCol w="777240"/>
                <a:gridCol w="2286000"/>
                <a:gridCol w="3776472"/>
                <a:gridCol w="33375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Exams He Can Attempt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14–15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10 (now)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phase — start fitness routine and Maths/GK groundwork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 PCM if leaning TES; begin structured NDA-pattern practice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12 (from April)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 II 2028 (Sept)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 first real attempt — 12th-appearing satisfies the qualification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17–18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12 boards (Jan–Mar) → degree begins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 I 2029 (Apr), NDA II 2029 (Sept), JEE Mains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Biggest year — boards, JEE Mains, and two NDA sittings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 Year 1–2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 I 2030 (Apr) — last 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CDS-IMA minimum age (19) crossed this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19–20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 Year 2–3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TGC minimum age (20) reached; NDA/TES window has closed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 Year 3–4 (final year)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CDS &amp; TGC (if final year)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graduate-entry attempts begin, provisionally as a final-year 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Year-by-Year Timeline — ages shown are the age he turns via his Sept 20 birthday that year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Year-by-Year Timeline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 — 2033–2038 (graduate-entry years)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4480560"/>
        </p:xfrm>
        <a:graphic>
          <a:graphicData uri="http://schemas.openxmlformats.org/drawingml/2006/table">
            <a:tbl>
              <a:tblPr/>
              <a:tblGrid>
                <a:gridCol w="914400"/>
                <a:gridCol w="777240"/>
                <a:gridCol w="2286000"/>
                <a:gridCol w="3776472"/>
                <a:gridCol w="33375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Exams He Can Attempt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21–22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Graduated (engineering)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CDS, TGC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entries running fully in parallel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22–23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career / postgrad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CDS, TGC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23–24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career / postgrad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CDS (last eligible year), TGC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realistic chance for CDS–IMA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TGC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CDS window has closed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TGC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26–27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TGC (last eligible year)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PC door before age 27 closes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Year-by-Year Timeline — ages shown are the age he turns via his Sept 20 birthday that year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READY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Preparation Roadmap by Stage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actually focus on, starting now — not just which exams to sit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4526280"/>
        </p:xfrm>
        <a:graphic>
          <a:graphicData uri="http://schemas.openxmlformats.org/drawingml/2006/table">
            <a:tbl>
              <a:tblPr/>
              <a:tblGrid>
                <a:gridCol w="2148840"/>
                <a:gridCol w="894283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Areas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02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— Class 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(2026–27)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Maths + English fluency for NDA's General Ability paper. Start a daily fitness routine (push-ups, sit-ups, running) aimed at SSB physical standards. Add light daily current-affairs reading.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(2027–28)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 up PCM if leaning toward TES. Begin structured NDA written-exam mock tests. Track his 1.6 km run timing against SSB benchmarks.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(2028–29)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 NDA II 2028 in September — his first real attempt. Prep JEE Mains (Jan/Apr 2029) in parallel for TES. Keep PCM aggregate above 60% for TES eligibility. Attempt NDA I 2029 right after boards.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Post-12th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(2029–30)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 NDA II 2029 and NDA I 2030 while starting his engineering degree. If selected at any point, he joins NDA or CME immediately — training begins right away.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degree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(2030–33)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marks strong — TGC shortlists on engineering marks alone. Maintain fitness continuously. From 2nd–3rd year, start SSB-specific prep: group tasks, psychology tests, mock interviews.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year onward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(2032+)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for CDS and TGC every single cycle. Stay on top of medical fitness — eyesight, BMI, dental — the most common reason candidates get dropped after clearing the SSB.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Roadmap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3550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4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84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School-Leaving Attempts (2028–2030)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for both NDA and TES, starting with NDA II in September 2028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EEF1E9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56232"/>
            <a:ext cx="73152" cy="914400"/>
          </a:xfrm>
          <a:prstGeom prst="roundRect">
            <a:avLst/>
          </a:prstGeom>
          <a:solidFill>
            <a:srgbClr val="B892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5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 on NDA first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6712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broadest entry (any stream), gives the longest training and the best-known SSB conversion track record, and keeps every Arm — including Signals — open based on final merit.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EEF1E9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456432"/>
            <a:ext cx="73152" cy="914400"/>
          </a:xfrm>
          <a:prstGeom prst="roundRect">
            <a:avLst/>
          </a:prstGeom>
          <a:solidFill>
            <a:srgbClr val="B892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3383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5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TES in parallel, not instead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76732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he studies PCM and keeps JEE Mains prep going anyway (which also helps NDA's Maths paper), TES essentially comes free alongside NDA prep — no extra written exam needed.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EEF1E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5056632"/>
            <a:ext cx="73152" cy="914400"/>
          </a:xfrm>
          <a:prstGeom prst="roundRect">
            <a:avLst/>
          </a:prstGeom>
          <a:solidFill>
            <a:srgbClr val="B892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5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real attempts, 2028–2030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36752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II 2028, NDA I &amp; II 2029, and NDA I 2030 — the widest opening he will have, with the first one arriving as soon as he starts Class 12.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— Phase 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4C6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4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84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Choosing His Degree Wisely (2029 onward)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9601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enrolls in 2029 right after boards — even while still attempting NDA I 2030 as a parallel shot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4EFE4"/>
          </a:solidFill>
          <a:ln w="15875">
            <a:solidFill>
              <a:srgbClr val="B892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5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Degree (B.Tech / BE)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2011680" cy="320040"/>
          </a:xfrm>
          <a:prstGeom prst="rect">
            <a:avLst/>
          </a:prstGeom>
          <a:solidFill>
            <a:srgbClr val="B8925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346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BOTH CDS and TGC open. The strictly safer choice — it doesn't shut any Permanent Commission door. Ideally Electronics / Comm / CS / IT if he's drawn to Signals.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91072" y="160020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EEF1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18288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Non-Engineering Degree (BA / BSc / BCom)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251460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CDS open — TGC needs an engineering degree, so this path closes one of his four doors early.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3550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70916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Recommendation: choose engineering — it's strictly the safer choice since it doesn't shut any PC door.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— Phase 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3550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4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84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Graduate-Entry Attempts (2032–2038) &amp; Backup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EEF1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5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for CDS and TGC together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574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CDS and TGC simultaneously every cycle from his final year onward (provisional applications are allowed). TGC has the shorter, faster training (1 year) with bonus seniority; CDS-IMA is the broader graduate entry. This phase alone gives him well over 10 combined attempts across several years.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F4EFE4"/>
          </a:solidFill>
          <a:ln w="12700">
            <a:solidFill>
              <a:srgbClr val="B892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7947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5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Plan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20624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NDA and TES don't come through by 2030, the CDS / TGC window (2032–2038) is wide and forgiving — a total of well over 15 realistic attempts across all four entries over his whole eligible life if he stays consistent.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— Phase 3 &amp; Backup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Complete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15544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10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44802"/>
            <a:ext cx="15544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2026–27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86000" y="1805940"/>
            <a:ext cx="320040" cy="0"/>
          </a:xfrm>
          <a:prstGeom prst="line">
            <a:avLst/>
          </a:prstGeom>
          <a:noFill/>
          <a:ln w="19050">
            <a:solidFill>
              <a:srgbClr val="5B6B5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06040" y="141732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481328"/>
            <a:ext cx="15544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11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844802"/>
            <a:ext cx="15544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43400" y="1805940"/>
            <a:ext cx="320040" cy="0"/>
          </a:xfrm>
          <a:prstGeom prst="line">
            <a:avLst/>
          </a:prstGeom>
          <a:noFill/>
          <a:ln w="19050">
            <a:solidFill>
              <a:srgbClr val="5B6B5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63440" y="1417320"/>
            <a:ext cx="19202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481328"/>
            <a:ext cx="173736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12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844802"/>
            <a:ext cx="173736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2028–29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83680" y="1805940"/>
            <a:ext cx="320040" cy="0"/>
          </a:xfrm>
          <a:prstGeom prst="line">
            <a:avLst/>
          </a:prstGeom>
          <a:noFill/>
          <a:ln w="19050">
            <a:solidFill>
              <a:srgbClr val="5B6B5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03720" y="1417320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EEF1E9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95160" y="1481328"/>
            <a:ext cx="20116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NDA II'28, NDA I&amp;II'29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844802"/>
            <a:ext cx="20116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 or PCM% + JEE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098280" y="1805940"/>
            <a:ext cx="320040" cy="0"/>
          </a:xfrm>
          <a:prstGeom prst="line">
            <a:avLst/>
          </a:prstGeom>
          <a:noFill/>
          <a:ln w="19050">
            <a:solidFill>
              <a:srgbClr val="5B6B5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18320" y="1417320"/>
            <a:ext cx="1600200" cy="777240"/>
          </a:xfrm>
          <a:prstGeom prst="roundRect">
            <a:avLst>
              <a:gd name="adj" fmla="val 8235"/>
            </a:avLst>
          </a:prstGeom>
          <a:solidFill>
            <a:srgbClr val="F4EFE4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09760" y="1481328"/>
            <a:ext cx="141732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SSB + Medical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1844802"/>
            <a:ext cx="141732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&amp; board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218420" y="2194560"/>
            <a:ext cx="0" cy="502920"/>
          </a:xfrm>
          <a:prstGeom prst="line">
            <a:avLst/>
          </a:prstGeom>
          <a:noFill/>
          <a:ln w="19050">
            <a:solidFill>
              <a:srgbClr val="5B6B5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" y="2880360"/>
            <a:ext cx="2926080" cy="777240"/>
          </a:xfrm>
          <a:prstGeom prst="roundRect">
            <a:avLst>
              <a:gd name="adj" fmla="val 8235"/>
            </a:avLst>
          </a:prstGeom>
          <a:solidFill>
            <a:srgbClr val="35502B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2944368"/>
            <a:ext cx="27432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07842"/>
            <a:ext cx="274320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yrs training @ NDA/CME + IMA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5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Commissioned as Lt (PC) — Arm of choice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31318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or, if not selected 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2880360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EEF1E9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12080" y="2944368"/>
            <a:ext cx="265176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Degree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3307842"/>
            <a:ext cx="265176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2029/30 — 2033, keeps CDS + TGC open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955280" y="3268980"/>
            <a:ext cx="411480" cy="0"/>
          </a:xfrm>
          <a:prstGeom prst="line">
            <a:avLst/>
          </a:prstGeom>
          <a:noFill/>
          <a:ln w="19050">
            <a:solidFill>
              <a:srgbClr val="5B6B57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366760" y="2880360"/>
            <a:ext cx="3273552" cy="777240"/>
          </a:xfrm>
          <a:prstGeom prst="roundRect">
            <a:avLst>
              <a:gd name="adj" fmla="val 8235"/>
            </a:avLst>
          </a:prstGeom>
          <a:solidFill>
            <a:srgbClr val="F4EFE4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58200" y="2944368"/>
            <a:ext cx="3090672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CDS (IMA) &amp; TGC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458200" y="3307842"/>
            <a:ext cx="3090672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onward, 2032–2038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003536" y="3657600"/>
            <a:ext cx="0" cy="457200"/>
          </a:xfrm>
          <a:prstGeom prst="line">
            <a:avLst/>
          </a:prstGeom>
          <a:noFill/>
          <a:ln w="19050">
            <a:solidFill>
              <a:srgbClr val="5B6B5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949440" y="4160520"/>
            <a:ext cx="4690872" cy="640080"/>
          </a:xfrm>
          <a:prstGeom prst="roundRect">
            <a:avLst>
              <a:gd name="adj" fmla="val 10000"/>
            </a:avLst>
          </a:prstGeom>
          <a:solidFill>
            <a:srgbClr val="F4EFE4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040880" y="4224528"/>
            <a:ext cx="450799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SSB Interview + Medical Board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003536" y="4800600"/>
            <a:ext cx="0" cy="320040"/>
          </a:xfrm>
          <a:prstGeom prst="line">
            <a:avLst/>
          </a:prstGeom>
          <a:noFill/>
          <a:ln w="19050">
            <a:solidFill>
              <a:srgbClr val="5B6B57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949440" y="5120640"/>
            <a:ext cx="4690872" cy="685800"/>
          </a:xfrm>
          <a:prstGeom prst="roundRect">
            <a:avLst>
              <a:gd name="adj" fmla="val 9333"/>
            </a:avLst>
          </a:prstGeom>
          <a:solidFill>
            <a:srgbClr val="35502B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40880" y="5184648"/>
            <a:ext cx="450799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Commissioned as Lt — Permanent Commission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040880" y="5497830"/>
            <a:ext cx="450799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officer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Journey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55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Best Possible Path for Maximum PC Chances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C4224"/>
          </a:solidFill>
          <a:ln w="9525">
            <a:solidFill>
              <a:srgbClr val="B892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92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60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PC entries — NDA, TES, CDS, TGC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17830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C4224"/>
          </a:solidFill>
          <a:ln w="9525">
            <a:solidFill>
              <a:srgbClr val="B892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9202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92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560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attempts spread across roughly a decade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321040" y="17830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C4224"/>
          </a:solidFill>
          <a:ln w="9525">
            <a:solidFill>
              <a:srgbClr val="B892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202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92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2028–2038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2560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eligibility window, start to finish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602736"/>
            <a:ext cx="91440" cy="91440"/>
          </a:xfrm>
          <a:prstGeom prst="ellipse">
            <a:avLst/>
          </a:prstGeom>
          <a:solidFill>
            <a:srgbClr val="B892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34472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NDA everything from September 2028 (his first attempt) through 2030 — it's the widest door and the longest, most complete training.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4169664"/>
            <a:ext cx="91440" cy="91440"/>
          </a:xfrm>
          <a:prstGeom prst="ellipse">
            <a:avLst/>
          </a:prstGeom>
          <a:solidFill>
            <a:srgbClr val="B892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401421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 alongside it for free, since PCM / JEE prep overlaps with NDA prep.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4736592"/>
            <a:ext cx="91440" cy="91440"/>
          </a:xfrm>
          <a:prstGeom prst="ellipse">
            <a:avLst/>
          </a:prstGeom>
          <a:solidFill>
            <a:srgbClr val="B892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" y="458114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engineering degree as his fallback path — the only choice that keeps both CDS and TGC open later.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5303520"/>
            <a:ext cx="91440" cy="91440"/>
          </a:xfrm>
          <a:prstGeom prst="ellipse">
            <a:avLst/>
          </a:prstGeom>
          <a:solidFill>
            <a:srgbClr val="B8925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1560" y="514807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2032 onward, attack CDS and TGC together every cycle until 2035 (CDS closes at 24) and 2038 (TGC closes at 27).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60807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 NDA's age mechanics above are confirmed against the standard UPSC pattern; CDS/TGC calendar edges can shift ±6 months by notification. Always confirm exact dates against the official UPSC / Indian Army notification each year.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2026-09-11T18:24:52Z</dcterms:created>
  <dcterms:modified xsi:type="dcterms:W3CDTF">2026-09-11T18:24:52Z</dcterms:modified>
</cp:coreProperties>
</file>